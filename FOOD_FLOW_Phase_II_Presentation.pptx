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32720" cy="502920"/>
          </a:xfrm>
          <a:prstGeom prst="roundRect">
            <a:avLst/>
          </a:prstGeom>
          <a:solidFill>
            <a:srgbClr val="DCEAF4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800">
                <a:solidFill>
                  <a:srgbClr val="163A5F"/>
                </a:solidFill>
                <a:latin typeface="Aptos"/>
              </a:defRPr>
            </a:pPr>
            <a:r>
              <a:t>PROJECT-BASED LEARNING | PHASE-II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2600">
                <a:solidFill>
                  <a:srgbClr val="163A5F"/>
                </a:solidFill>
                <a:latin typeface="Aptos"/>
              </a:defRPr>
            </a:pPr>
            <a:r>
              <a:t>FOOD FLOW</a:t>
            </a:r>
          </a:p>
          <a:p>
            <a:pPr>
              <a:spcAft>
                <a:spcPts val="800"/>
              </a:spcAft>
              <a:defRPr sz="2500">
                <a:solidFill>
                  <a:srgbClr val="163A5F"/>
                </a:solidFill>
                <a:latin typeface="Aptos"/>
              </a:defRPr>
            </a:pPr>
            <a:r>
              <a:t>Intelligent Food Recommendation and Route Optimization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05F6E"/>
                </a:solidFill>
                <a:latin typeface="Aptos"/>
              </a:defRPr>
            </a:pPr>
            <a:r>
              <a:t>Team ID: DSCPP-III-2026-T165</a:t>
            </a:r>
          </a:p>
          <a:p>
            <a:pPr>
              <a:spcAft>
                <a:spcPts val="800"/>
              </a:spcAft>
              <a:defRPr sz="1300">
                <a:solidFill>
                  <a:srgbClr val="505F6E"/>
                </a:solidFill>
                <a:latin typeface="Aptos"/>
              </a:defRPr>
            </a:pPr>
            <a:r>
              <a:t>Department of Computer Science &amp; Engineering</a:t>
            </a:r>
          </a:p>
          <a:p>
            <a:pPr>
              <a:spcAft>
                <a:spcPts val="800"/>
              </a:spcAft>
              <a:defRPr sz="1300">
                <a:solidFill>
                  <a:srgbClr val="505F6E"/>
                </a:solidFill>
                <a:latin typeface="Aptos"/>
              </a:defRPr>
            </a:pPr>
            <a:r>
              <a:t>Graphic Era (Deemed to be University), Dehradun</a:t>
            </a:r>
          </a:p>
          <a:p>
            <a:pPr>
              <a:spcAft>
                <a:spcPts val="800"/>
              </a:spcAft>
              <a:defRPr sz="1300">
                <a:solidFill>
                  <a:srgbClr val="505F6E"/>
                </a:solidFill>
                <a:latin typeface="Aptos"/>
              </a:defRPr>
            </a:pPr>
            <a:r>
              <a:t>Academic Session 2026–27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486400"/>
            <a:ext cx="10332720" cy="411480"/>
          </a:xfrm>
          <a:prstGeom prst="roundRect">
            <a:avLst/>
          </a:prstGeom>
          <a:solidFill>
            <a:srgbClr val="DCEAF4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Mentor: Dr. Pawan Kumar Mishra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 Display"/>
              </a:defRPr>
            </a:pPr>
            <a:r>
              <a:t>Team &amp; Mentor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6E"/>
                </a:solidFill>
              </a:defRPr>
            </a:pPr>
            <a:r>
              <a:t>Project team information carried forward from the supplied Phase-I document.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</a:defRPr>
            </a:pPr>
            <a:r>
              <a:t>Department of CSE | Graphic Era (Deemed to be University)                                      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4206240"/>
          </a:xfrm>
          <a:prstGeom prst="roundRect">
            <a:avLst/>
          </a:prstGeom>
          <a:solidFill>
            <a:srgbClr val="F5F8FB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700">
                <a:solidFill>
                  <a:srgbClr val="163A5F"/>
                </a:solidFill>
                <a:latin typeface="Aptos"/>
              </a:defRPr>
            </a:pPr>
            <a:r>
              <a:t>TEAM INFORMATION</a:t>
            </a:r>
          </a:p>
          <a:p>
            <a:pPr>
              <a:spcAft>
                <a:spcPts val="800"/>
              </a:spcAft>
              <a:defRPr sz="1600">
                <a:solidFill>
                  <a:srgbClr val="163A5F"/>
                </a:solidFill>
                <a:latin typeface="Aptos"/>
              </a:defRPr>
            </a:pPr>
            <a:r>
              <a:t>Team ID: DSCPP-III-2026-T165</a:t>
            </a:r>
          </a:p>
          <a:p>
            <a:pPr>
              <a:spcAft>
                <a:spcPts val="800"/>
              </a:spcAft>
              <a:defRPr sz="1600">
                <a:solidFill>
                  <a:srgbClr val="163A5F"/>
                </a:solidFill>
                <a:latin typeface="Aptos"/>
              </a:defRPr>
            </a:pPr>
            <a:r>
              <a:t>Semester: 3rd</a:t>
            </a:r>
          </a:p>
          <a:p>
            <a:pPr>
              <a:spcAft>
                <a:spcPts val="800"/>
              </a:spcAft>
              <a:defRPr sz="1600">
                <a:solidFill>
                  <a:srgbClr val="163A5F"/>
                </a:solidFill>
                <a:latin typeface="Aptos"/>
              </a:defRPr>
            </a:pPr>
            <a:r>
              <a:t>Domain: Data Structures &amp; C++</a:t>
            </a:r>
          </a:p>
          <a:p>
            <a:pPr>
              <a:spcAft>
                <a:spcPts val="800"/>
              </a:spcAft>
              <a:defRPr sz="1600">
                <a:solidFill>
                  <a:srgbClr val="163A5F"/>
                </a:solidFill>
                <a:latin typeface="Aptos"/>
              </a:defRPr>
            </a:pPr>
            <a:r>
              <a:t>Mentor: Dr. Pawan Kumar Mishra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03520" cy="4206240"/>
          </a:xfrm>
          <a:prstGeom prst="roundRect">
            <a:avLst/>
          </a:prstGeom>
          <a:solidFill>
            <a:srgbClr val="F5F8FB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600">
                <a:solidFill>
                  <a:srgbClr val="163A5F"/>
                </a:solidFill>
                <a:latin typeface="Aptos"/>
              </a:defRPr>
            </a:pPr>
            <a:r>
              <a:t>TEAM MEMBERS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Ipsita Bansal  |  2510013430  |  Team Lead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Surya Pratap Tyagi  |  2510012313  |  Member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Shubhda Joshi  |  2510012509  |  Member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Sehar Gupta  |  2510350019  |  Member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6E"/>
                </a:solidFill>
              </a:defRPr>
            </a:pPr>
            <a:r>
              <a:t>Key objectives from the Phase-I source, organized as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</a:defRPr>
            </a:pPr>
            <a:r>
              <a:t>Department of CSE | Graphic Era (Deemed to be University)                                      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6583680" cy="4846320"/>
          </a:xfrm>
          <a:prstGeom prst="roundRect">
            <a:avLst/>
          </a:prstGeom>
          <a:solidFill>
            <a:srgbClr val="F5F8FB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700">
                <a:solidFill>
                  <a:srgbClr val="163A5F"/>
                </a:solidFill>
                <a:latin typeface="Aptos"/>
              </a:defRPr>
            </a:pPr>
            <a:r>
              <a:t>1. Develop a working C++ console prototype for food selection and route planning.</a:t>
            </a:r>
          </a:p>
          <a:p>
            <a:pPr>
              <a:spcAft>
                <a:spcPts val="800"/>
              </a:spcAft>
              <a:defRPr sz="1600">
                <a:solidFill>
                  <a:srgbClr val="163A5F"/>
                </a:solidFill>
                <a:latin typeface="Aptos"/>
              </a:defRPr>
            </a:pPr>
            <a:r>
              <a:t>2. Compare food places by rating, distance, preparation time and user choice.</a:t>
            </a:r>
          </a:p>
          <a:p>
            <a:pPr>
              <a:spcAft>
                <a:spcPts val="800"/>
              </a:spcAft>
              <a:defRPr sz="1600">
                <a:solidFill>
                  <a:srgbClr val="163A5F"/>
                </a:solidFill>
                <a:latin typeface="Aptos"/>
              </a:defRPr>
            </a:pPr>
            <a:r>
              <a:t>3. Provide dine-in, takeaway / drive-through and delivery options.</a:t>
            </a:r>
          </a:p>
          <a:p>
            <a:pPr>
              <a:spcAft>
                <a:spcPts val="800"/>
              </a:spcAft>
              <a:defRPr sz="1600">
                <a:solidFill>
                  <a:srgbClr val="163A5F"/>
                </a:solidFill>
                <a:latin typeface="Aptos"/>
              </a:defRPr>
            </a:pPr>
            <a:r>
              <a:t>4. Include login, ordering, feedback and order-history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325880"/>
            <a:ext cx="3931920" cy="4846320"/>
          </a:xfrm>
          <a:prstGeom prst="roundRect">
            <a:avLst/>
          </a:prstGeom>
          <a:solidFill>
            <a:srgbClr val="DCEAF4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800">
                <a:solidFill>
                  <a:srgbClr val="163A5F"/>
                </a:solidFill>
                <a:latin typeface="Aptos"/>
              </a:defRPr>
            </a:pPr>
            <a:r>
              <a:t>KEY OBJECTIVE</a:t>
            </a:r>
          </a:p>
          <a:p>
            <a:pPr>
              <a:spcAft>
                <a:spcPts val="800"/>
              </a:spcAft>
              <a:defRPr sz="1700">
                <a:solidFill>
                  <a:srgbClr val="163A5F"/>
                </a:solidFill>
                <a:latin typeface="Aptos"/>
              </a:defRPr>
            </a:pPr>
            <a:r>
              <a:t>Build a console-based system that helps users select an appropriate food place and obtain route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6E"/>
                </a:solidFill>
              </a:defRPr>
            </a:pPr>
            <a:r>
              <a:t>Problem-to-solution mapping and proposed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</a:defRPr>
            </a:pPr>
            <a:r>
              <a:t>Department of CSE | Graphic Era (Deemed to be University)                                      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94960" cy="4892040"/>
          </a:xfrm>
          <a:prstGeom prst="roundRect">
            <a:avLst/>
          </a:prstGeom>
          <a:solidFill>
            <a:srgbClr val="F5F8FB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PROPOSED APPROACH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1. Collect food choice, location and service type.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2. Process available food and restaurant details.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3. Compare options against user preferences.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4. Use a graph and Dijkstra’s algorithm for route planning.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5. Display selected place, service and route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4892040"/>
          </a:xfrm>
          <a:prstGeom prst="roundRect">
            <a:avLst/>
          </a:prstGeom>
          <a:solidFill>
            <a:srgbClr val="DCEAF4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PROBLEM → SOLUTION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Too many choices → filter and compare options.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Nearest place may not suit → consider rating and preference.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Route planning needed → graph + Dijkstra.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Different services → dine-in, takeaway and delivery.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User records needed → login, feedback and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 Display"/>
              </a:defRPr>
            </a:pPr>
            <a:r>
              <a:t>Integration of PBL Course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6E"/>
                </a:solidFill>
              </a:defRPr>
            </a:pPr>
            <a:r>
              <a:t>How Data Structures and OOP concepts fit the project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</a:defRPr>
            </a:pPr>
            <a:r>
              <a:t>Department of CSE | Graphic Era (Deemed to be University)                                      5/10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94960" cy="4754880"/>
          </a:xfrm>
          <a:prstGeom prst="roundRect">
            <a:avLst/>
          </a:prstGeom>
          <a:solidFill>
            <a:srgbClr val="F5F8FB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DATA STRUCTURES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Graphs represent locations and routes.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Dijkstra’s algorithm finds shortest paths.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Searching and sorting process food-place options.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Linked lists, queues and stacks support data handling.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Hash maps can support quick lookup.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4754880"/>
          </a:xfrm>
          <a:prstGeom prst="roundRect">
            <a:avLst/>
          </a:prstGeom>
          <a:solidFill>
            <a:srgbClr val="DCEAF4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OOP WITH C++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Classes represent users, restaurants and orders.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Objects store related data.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Functions divide the system into modules.</a:t>
            </a:r>
          </a:p>
          <a:p>
            <a:pPr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• STL containers support data collection and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 Display"/>
              </a:defRPr>
            </a:pPr>
            <a:r>
              <a:t>System Architecture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6E"/>
                </a:solidFill>
              </a:defRPr>
            </a:pPr>
            <a:r>
              <a:t>High-level flow based on the supplied project description.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</a:defRPr>
            </a:pPr>
            <a:r>
              <a:t>Department of CSE | Graphic Era (Deemed to be University)                                      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920240" cy="777240"/>
          </a:xfrm>
          <a:prstGeom prst="roundRect">
            <a:avLst/>
          </a:prstGeom>
          <a:solidFill>
            <a:srgbClr val="DCEAF4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3A5F"/>
                </a:solidFill>
              </a:defRPr>
            </a:pPr>
            <a:r>
              <a:t>User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965960"/>
            <a:ext cx="1920240" cy="777240"/>
          </a:xfrm>
          <a:prstGeom prst="roundRect">
            <a:avLst/>
          </a:prstGeom>
          <a:solidFill>
            <a:srgbClr val="DCEAF4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3A5F"/>
                </a:solidFill>
              </a:defRPr>
            </a:pPr>
            <a:r>
              <a:t>Login /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965960"/>
            <a:ext cx="1920240" cy="777240"/>
          </a:xfrm>
          <a:prstGeom prst="roundRect">
            <a:avLst/>
          </a:prstGeom>
          <a:solidFill>
            <a:srgbClr val="DCEAF4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3A5F"/>
                </a:solidFill>
              </a:defRPr>
            </a:pPr>
            <a:r>
              <a:t>Food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965960"/>
            <a:ext cx="1920240" cy="777240"/>
          </a:xfrm>
          <a:prstGeom prst="roundRect">
            <a:avLst/>
          </a:prstGeom>
          <a:solidFill>
            <a:srgbClr val="DCEAF4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3A5F"/>
                </a:solidFill>
              </a:defRPr>
            </a:pPr>
            <a:r>
              <a:t>Service Choice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965960"/>
            <a:ext cx="1920240" cy="777240"/>
          </a:xfrm>
          <a:prstGeom prst="roundRect">
            <a:avLst/>
          </a:prstGeom>
          <a:solidFill>
            <a:srgbClr val="DCEAF4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3A5F"/>
                </a:solidFill>
              </a:defRPr>
            </a:pPr>
            <a:r>
              <a:t>Order / Route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41448" y="2212848"/>
            <a:ext cx="256032" cy="228600"/>
          </a:xfrm>
          <a:prstGeom prst="rightArrow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681728" y="2212848"/>
            <a:ext cx="256032" cy="228600"/>
          </a:xfrm>
          <a:prstGeom prst="rightArrow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922008" y="2212848"/>
            <a:ext cx="256032" cy="228600"/>
          </a:xfrm>
          <a:prstGeom prst="rightArrow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162288" y="2212848"/>
            <a:ext cx="256032" cy="228600"/>
          </a:xfrm>
          <a:prstGeom prst="rightArrow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337560"/>
            <a:ext cx="10241280" cy="2011680"/>
          </a:xfrm>
          <a:prstGeom prst="roundRect">
            <a:avLst/>
          </a:prstGeom>
          <a:solidFill>
            <a:srgbClr val="F5F8FB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700">
                <a:solidFill>
                  <a:srgbClr val="163A5F"/>
                </a:solidFill>
                <a:latin typeface="Aptos"/>
              </a:defRPr>
            </a:pPr>
            <a:r>
              <a:t>SERVICE OPTIONS</a:t>
            </a:r>
          </a:p>
          <a:p>
            <a:pPr>
              <a:spcAft>
                <a:spcPts val="800"/>
              </a:spcAft>
              <a:defRPr sz="1600">
                <a:solidFill>
                  <a:srgbClr val="163A5F"/>
                </a:solidFill>
                <a:latin typeface="Aptos"/>
              </a:defRPr>
            </a:pPr>
            <a:r>
              <a:t>Dine-in  •  Takeaway / Drive-through  •  Delivery</a:t>
            </a:r>
          </a:p>
          <a:p>
            <a:pPr>
              <a:spcAft>
                <a:spcPts val="800"/>
              </a:spcAft>
              <a:defRPr sz="1600">
                <a:solidFill>
                  <a:srgbClr val="163A5F"/>
                </a:solidFill>
                <a:latin typeface="Aptos"/>
              </a:defRPr>
            </a:pPr>
            <a:r>
              <a:t>Feedback and order history are supporting features identified in the proposed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 Display"/>
              </a:defRPr>
            </a:pPr>
            <a:r>
              <a:t>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6E"/>
                </a:solidFill>
              </a:defRPr>
            </a:pPr>
            <a:r>
              <a:t>Conceptual workflow; update the diagram if the implementation differs.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</a:defRPr>
            </a:pPr>
            <a:r>
              <a:t>Department of CSE | Graphic Era (Deemed to be University)                                      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1874519" cy="731520"/>
          </a:xfrm>
          <a:prstGeom prst="roundRect">
            <a:avLst/>
          </a:prstGeom>
          <a:solidFill>
            <a:srgbClr val="F5F8FB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63A5F"/>
                </a:solidFill>
              </a:defRPr>
            </a:pPr>
            <a:r>
              <a:t>Start /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463040"/>
            <a:ext cx="1874519" cy="731520"/>
          </a:xfrm>
          <a:prstGeom prst="roundRect">
            <a:avLst/>
          </a:prstGeom>
          <a:solidFill>
            <a:srgbClr val="F5F8FB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63A5F"/>
                </a:solidFill>
              </a:defRPr>
            </a:pPr>
            <a:r>
              <a:t>Enter preferences</a:t>
            </a:r>
            <a:br/>
            <a:r>
              <a:t>and 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463040"/>
            <a:ext cx="1874519" cy="731520"/>
          </a:xfrm>
          <a:prstGeom prst="roundRect">
            <a:avLst/>
          </a:prstGeom>
          <a:solidFill>
            <a:srgbClr val="F5F8FB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63A5F"/>
                </a:solidFill>
              </a:defRPr>
            </a:pPr>
            <a:r>
              <a:t>Filter food places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463040"/>
            <a:ext cx="1874519" cy="731520"/>
          </a:xfrm>
          <a:prstGeom prst="roundRect">
            <a:avLst/>
          </a:prstGeom>
          <a:solidFill>
            <a:srgbClr val="F5F8FB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63A5F"/>
                </a:solidFill>
              </a:defRPr>
            </a:pPr>
            <a:r>
              <a:t>Choose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886200"/>
            <a:ext cx="1874519" cy="731520"/>
          </a:xfrm>
          <a:prstGeom prst="roundRect">
            <a:avLst/>
          </a:prstGeom>
          <a:solidFill>
            <a:srgbClr val="F5F8FB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63A5F"/>
                </a:solidFill>
              </a:defRPr>
            </a:pPr>
            <a:r>
              <a:t>Route / order</a:t>
            </a:r>
            <a:br/>
            <a:r>
              <a:t>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886200"/>
            <a:ext cx="1874519" cy="731520"/>
          </a:xfrm>
          <a:prstGeom prst="roundRect">
            <a:avLst/>
          </a:prstGeom>
          <a:solidFill>
            <a:srgbClr val="F5F8FB"/>
          </a:solidFill>
          <a:ln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63A5F"/>
                </a:solidFill>
              </a:defRPr>
            </a:pPr>
            <a:r>
              <a:t>Feedback / 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607040" cy="640080"/>
          </a:xfrm>
          <a:prstGeom prst="roundRect">
            <a:avLst/>
          </a:prstGeom>
          <a:solidFill>
            <a:srgbClr val="DCEAF4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Route planning uses a graph representation and Dijkstra’s algorithm, as specified in the Phase-I plan.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 Display"/>
              </a:defRPr>
            </a:pPr>
            <a:r>
              <a:t>Technology Stack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6E"/>
                </a:solidFill>
              </a:defRPr>
            </a:pPr>
            <a:r>
              <a:t>Technology and process specified in the source document.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</a:defRPr>
            </a:pPr>
            <a:r>
              <a:t>Department of CSE | Graphic Era (Deemed to be University)                                      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94960" cy="4892040"/>
          </a:xfrm>
          <a:prstGeom prst="roundRect">
            <a:avLst/>
          </a:prstGeom>
          <a:solidFill>
            <a:srgbClr val="F5F8FB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600">
                <a:solidFill>
                  <a:srgbClr val="163A5F"/>
                </a:solidFill>
                <a:latin typeface="Aptos"/>
              </a:defRPr>
            </a:pPr>
            <a:r>
              <a:t>TECHNOLOGY STACK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• Language: C++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• Data structures: Graph, Vector, Queue, Stack, Linked List, Hash Map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• Algorithm: Dijkstra’s Algorithm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• IDE: Visual Studio Code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• Interface: Console-based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4892040"/>
          </a:xfrm>
          <a:prstGeom prst="roundRect">
            <a:avLst/>
          </a:prstGeom>
          <a:solidFill>
            <a:srgbClr val="DCEAF4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600">
                <a:solidFill>
                  <a:srgbClr val="163A5F"/>
                </a:solidFill>
                <a:latin typeface="Aptos"/>
              </a:defRPr>
            </a:pPr>
            <a:r>
              <a:t>DEVELOPMENT METHODOLOGY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1. Requirement analysis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2. System design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3. Module development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4. Module integration</a:t>
            </a:r>
          </a:p>
          <a:p>
            <a:pPr>
              <a:spcAft>
                <a:spcPts val="800"/>
              </a:spcAft>
              <a:defRPr sz="1500">
                <a:solidFill>
                  <a:srgbClr val="163A5F"/>
                </a:solidFill>
                <a:latin typeface="Aptos"/>
              </a:defRPr>
            </a:pPr>
            <a:r>
              <a:t>5. Testing and debugging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 Display"/>
              </a:defRPr>
            </a:pPr>
            <a:r>
              <a:t>Phase-II Progress &amp; Team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6E"/>
                </a:solidFill>
              </a:defRPr>
            </a:pPr>
            <a:r>
              <a:t>Phase-II completion and test results were not included in the supplied source; do not assume tests have passed.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</a:defRPr>
            </a:pPr>
            <a:r>
              <a:t>Department of CSE | Graphic Era (Deemed to be University)                                      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577840" cy="4800600"/>
          </a:xfrm>
          <a:prstGeom prst="roundRect">
            <a:avLst/>
          </a:prstGeom>
          <a:solidFill>
            <a:srgbClr val="F5F8FB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VALIDATION CHECKLIST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1. Record actual status of each module.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2. Test shortest paths with known graph inputs.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3. Check recommendation factors and invalid inputs.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4. Test dine-in, takeaway and delivery flows.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5. Test the integrated user journey.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6. Add real screenshots and pass/fail results after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5120640" cy="4800600"/>
          </a:xfrm>
          <a:prstGeom prst="roundRect">
            <a:avLst/>
          </a:prstGeom>
          <a:solidFill>
            <a:srgbClr val="DCEAF4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TEAM CONTRIBUTIONS (PHASE-I SOURCE)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Ipsita Bansal — Team Lead: Login, password and feedback module.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Shubhda Joshi — Dine-in module.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Sehar Gupta — Takeaway and drive-through module.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Surya Pratap Tyagi — Delivery module.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 Display"/>
              </a:defRPr>
            </a:pPr>
            <a:r>
              <a:t>Roadmap, Expected Outcomes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6E"/>
                </a:solidFill>
              </a:defRPr>
            </a:pPr>
            <a:r>
              <a:t>Next steps and expected outcomes from the supplied project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</a:defRPr>
            </a:pPr>
            <a:r>
              <a:t>Department of CSE | Graphic Era (Deemed to be University)                                      10/10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94960" cy="4846320"/>
          </a:xfrm>
          <a:prstGeom prst="roundRect">
            <a:avLst/>
          </a:prstGeom>
          <a:solidFill>
            <a:srgbClr val="F5F8FB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ROADMAP</a:t>
            </a:r>
          </a:p>
          <a:p>
            <a:pPr>
              <a:spcAft>
                <a:spcPts val="800"/>
              </a:spcAft>
              <a:defRPr sz="1200">
                <a:solidFill>
                  <a:srgbClr val="163A5F"/>
                </a:solidFill>
                <a:latin typeface="Aptos"/>
              </a:defRPr>
            </a:pPr>
            <a:r>
              <a:t>1. Complete individual modules.</a:t>
            </a:r>
          </a:p>
          <a:p>
            <a:pPr>
              <a:spcAft>
                <a:spcPts val="800"/>
              </a:spcAft>
              <a:defRPr sz="1200">
                <a:solidFill>
                  <a:srgbClr val="163A5F"/>
                </a:solidFill>
                <a:latin typeface="Aptos"/>
              </a:defRPr>
            </a:pPr>
            <a:r>
              <a:t>2. Integrate all modules.</a:t>
            </a:r>
          </a:p>
          <a:p>
            <a:pPr>
              <a:spcAft>
                <a:spcPts val="800"/>
              </a:spcAft>
              <a:defRPr sz="1200">
                <a:solidFill>
                  <a:srgbClr val="163A5F"/>
                </a:solidFill>
                <a:latin typeface="Aptos"/>
              </a:defRPr>
            </a:pPr>
            <a:r>
              <a:t>3. Test recommendation and route logic.</a:t>
            </a:r>
          </a:p>
          <a:p>
            <a:pPr>
              <a:spcAft>
                <a:spcPts val="800"/>
              </a:spcAft>
              <a:defRPr sz="1200">
                <a:solidFill>
                  <a:srgbClr val="163A5F"/>
                </a:solidFill>
                <a:latin typeface="Aptos"/>
              </a:defRPr>
            </a:pPr>
            <a:r>
              <a:t>4. Test the complete workflow.</a:t>
            </a:r>
          </a:p>
          <a:p>
            <a:pPr>
              <a:spcAft>
                <a:spcPts val="800"/>
              </a:spcAft>
              <a:defRPr sz="1200">
                <a:solidFill>
                  <a:srgbClr val="163A5F"/>
                </a:solidFill>
                <a:latin typeface="Aptos"/>
              </a:defRPr>
            </a:pPr>
            <a:r>
              <a:t>5. Finalize project and documentation.</a:t>
            </a:r>
          </a:p>
          <a:p>
            <a:pPr>
              <a:spcAft>
                <a:spcPts val="800"/>
              </a:spcAft>
              <a:defRPr sz="1200">
                <a:solidFill>
                  <a:srgbClr val="163A5F"/>
                </a:solidFill>
                <a:latin typeface="Aptos"/>
              </a:defRPr>
            </a:pPr>
            <a:r>
              <a:t>EXPECTED OUTCOMES</a:t>
            </a:r>
          </a:p>
          <a:p>
            <a:pPr>
              <a:spcAft>
                <a:spcPts val="800"/>
              </a:spcAft>
              <a:defRPr sz="1200">
                <a:solidFill>
                  <a:srgbClr val="163A5F"/>
                </a:solidFill>
                <a:latin typeface="Aptos"/>
              </a:defRPr>
            </a:pPr>
            <a:r>
              <a:t>• Food recommendation</a:t>
            </a:r>
          </a:p>
          <a:p>
            <a:pPr>
              <a:spcAft>
                <a:spcPts val="800"/>
              </a:spcAft>
              <a:defRPr sz="1200">
                <a:solidFill>
                  <a:srgbClr val="163A5F"/>
                </a:solidFill>
                <a:latin typeface="Aptos"/>
              </a:defRPr>
            </a:pPr>
            <a:r>
              <a:t>• Shortest-route calculation</a:t>
            </a:r>
          </a:p>
          <a:p>
            <a:pPr>
              <a:spcAft>
                <a:spcPts val="800"/>
              </a:spcAft>
              <a:defRPr sz="1200">
                <a:solidFill>
                  <a:srgbClr val="163A5F"/>
                </a:solidFill>
                <a:latin typeface="Aptos"/>
              </a:defRPr>
            </a:pPr>
            <a:r>
              <a:t>• Three service options</a:t>
            </a:r>
          </a:p>
          <a:p>
            <a:pPr>
              <a:spcAft>
                <a:spcPts val="800"/>
              </a:spcAft>
              <a:defRPr sz="1200">
                <a:solidFill>
                  <a:srgbClr val="163A5F"/>
                </a:solidFill>
                <a:latin typeface="Aptos"/>
              </a:defRPr>
            </a:pPr>
            <a:r>
              <a:t>• Login, feedback and order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4846320"/>
          </a:xfrm>
          <a:prstGeom prst="roundRect">
            <a:avLst/>
          </a:prstGeom>
          <a:solidFill>
            <a:srgbClr val="DCEAF4"/>
          </a:solidFill>
          <a:ln>
            <a:solidFill>
              <a:srgbClr val="DC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 wrap="square"/>
          <a:lstStyle/>
          <a:p>
            <a:pPr algn="ctr">
              <a:spcAft>
                <a:spcPts val="800"/>
              </a:spcAft>
              <a:defRPr sz="1400">
                <a:solidFill>
                  <a:srgbClr val="163A5F"/>
                </a:solidFill>
                <a:latin typeface="Aptos"/>
              </a:defRPr>
            </a:pPr>
            <a:r>
              <a:t>REFERENCES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1. B. Stroustrup, The C++ Programming Language.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2. Cormen et al., Introduction to Algorithms.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3. C++ Standard Library Documentation.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4. E. W. Dijkstra, “A Note on Two Problems Connected with Graphs,” 1959.</a:t>
            </a: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63A5F"/>
                </a:solidFill>
                <a:latin typeface="Aptos"/>
              </a:defRPr>
            </a:pPr>
            <a:r>
              <a:t>Thank You — Questions &amp; Suggestions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